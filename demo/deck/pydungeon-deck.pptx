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~35 СЕКУНД</a:t>
            </a:r>
          </a:p>
          <a:p/>
          <a:p>
            <a:r>
              <a:t>Начну с вопроса. Поднимите руку, кто учил Python по задачам — и бросал на третьей. [пауза]</a:t>
            </a:r>
          </a:p>
          <a:p/>
          <a:p>
            <a:r>
              <a:t>Вот ровно про это игра. PyDungeon — подземелье, где вместо броска кубика вопрос по Python, а вместо меча — задача на код.</a:t>
            </a:r>
          </a:p>
          <a:p/>
          <a:p>
            <a:r>
              <a:t>Цифры простые: десять этажей, пять боссов, один дракон. Поход — двадцать–сорок минут. Всё в браузере, без сервера.</a:t>
            </a:r>
          </a:p>
          <a:p/>
          <a:p>
            <a:r>
              <a:t>Дальше покажу, как устроен бой. На нём держится всё остальное.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~70 СЕКУНД</a:t>
            </a:r>
          </a:p>
          <a:p/>
          <a:p>
            <a:r>
              <a:t>Бой в два шага. Сначала вопрос — вот этот, на экране: как поставить сторонний пакет, тот же requests. Варианты: pip install, import pip, pip get, python install.</a:t>
            </a:r>
          </a:p>
          <a:p/>
          <a:p>
            <a:r>
              <a:t>Кто готов ответить — поднимите руку. [пауза, дать залу ответить]</a:t>
            </a:r>
          </a:p>
          <a:p/>
          <a:p>
            <a:r>
              <a:t>Правильный первый: pip install requests.</a:t>
            </a:r>
          </a:p>
          <a:p/>
          <a:p>
            <a:r>
              <a:t>Второй шаг — задача на ту же тему. Не выбрать вариант, а написать код. Ошибся — урон герою, справился — урон монстру.</a:t>
            </a:r>
          </a:p>
          <a:p/>
          <a:p>
            <a:r>
              <a:t>Вопрос и задача всегда про одно и то же. Иначе проверяется память, а не умение.</a:t>
            </a:r>
          </a:p>
          <a:p/>
          <a:p>
            <a:r>
              <a:t>Код исполняется в браузере, через Pyodide. Поэтому игра работает без интернета и без сервера.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СЕКУНД</a:t>
            </a:r>
          </a:p>
          <a:p/>
          <a:p>
            <a:r>
              <a:t>Что внутри: десять этажей, пять биомов, пять боссов, кампания на пять глав. Поход — двадцать–сорок минут, одна сессия.</a:t>
            </a:r>
          </a:p>
          <a:p/>
          <a:p>
            <a:r>
              <a:t>Технически: Python в браузере через Pyodide, сохранения в localStorage, графика — пиксель-арт 32×32.</a:t>
            </a:r>
          </a:p>
          <a:p/>
          <a:p>
            <a:r>
              <a:t>Чего нет: сервера, таблицы рекордов, сети. Это обмен, а не недоделка: игра запускается одним файлом и не зависит от хостинга.</a:t>
            </a:r>
          </a:p>
          <a:p/>
          <a:p>
            <a:r>
              <a:t>Спасибо. Готов к вопросам.</a:t>
            </a:r>
          </a:p>
          <a:p/>
          <a:p>
            <a:r>
              <a:t>ЕСЛИ СПРОСЯТ</a:t>
            </a:r>
          </a:p>
          <a:p/>
          <a:p>
            <a:r>
              <a:t>— Почему без сервера?</a:t>
            </a:r>
          </a:p>
          <a:p>
            <a:r>
              <a:t>   Нет аккаунтов и рейтинга, зато нет хостинга и утечек: профиль лежит у игрока.</a:t>
            </a:r>
          </a:p>
          <a:p/>
          <a:p>
            <a:r>
              <a:t>— Сколько заняло?</a:t>
            </a:r>
          </a:p>
          <a:p>
            <a:r>
              <a:t>   [вставь свою цифру — одна фраза, без подробностей]</a:t>
            </a:r>
          </a:p>
          <a:p/>
          <a:p>
            <a:r>
              <a:t>— Откуда вопросы и задачи?</a:t>
            </a:r>
          </a:p>
          <a:p>
            <a:r>
              <a:t>   Вопросы — questions.js, задачи — code-tasks.js с тестами.</a:t>
            </a:r>
          </a:p>
          <a:p/>
          <a:p>
            <a:r>
              <a:t>— Это точно проверяет код, а не имитирует?</a:t>
            </a:r>
          </a:p>
          <a:p>
            <a:r>
              <a:t>   Прогоняются настоящие тесты в Pyodide, без запросов наружу.</a:t>
            </a:r>
          </a:p>
          <a:p/>
          <a:p>
            <a:r>
              <a:t>ЕСЛИ ЗАЛ МОЛЧИТ</a:t>
            </a:r>
          </a:p>
          <a:p/>
          <a:p>
            <a:r>
              <a:t>Задай встречный вопрос: что бы вы добавили в игру первым — карту, звук или ещё задач? Любой ответ даёт тему для разговора.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spc="240">
                <a:solidFill>
                  <a:srgbClr val="C8B79A"/>
                </a:solidFill>
                <a:latin typeface="IBM Plex Mono"/>
              </a:rPr>
              <a:t>ПОЛЕВОЙ ЖУРНАЛ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822960"/>
            <a:ext cx="10543032" cy="0"/>
          </a:xfrm>
          <a:prstGeom prst="line">
            <a:avLst/>
          </a:prstGeom>
          <a:ln w="9525">
            <a:solidFill>
              <a:srgbClr val="322F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49808" y="1600200"/>
            <a:ext cx="8961120" cy="1554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ct val="95000"/>
              </a:lnSpc>
            </a:pPr>
            <a:r>
              <a:rPr sz="8600" b="1">
                <a:solidFill>
                  <a:srgbClr val="D9CBB0"/>
                </a:solidFill>
                <a:latin typeface="Literata"/>
              </a:rPr>
              <a:t>Py</a:t>
            </a:r>
            <a:r>
              <a:rPr sz="8600" b="1">
                <a:solidFill>
                  <a:srgbClr val="D39A74"/>
                </a:solidFill>
                <a:latin typeface="Literata"/>
              </a:rPr>
              <a:t>Dungeon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27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spc="400">
                <a:solidFill>
                  <a:srgbClr val="9DB3A8"/>
                </a:solidFill>
                <a:latin typeface="IBM Plex Mono"/>
              </a:rPr>
              <a:t>ПЕЧАТИ ГЛУБИНЫ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39312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ct val="128000"/>
              </a:lnSpc>
            </a:pPr>
            <a:r>
              <a:rPr sz="1800" b="0">
                <a:solidFill>
                  <a:srgbClr val="D9CBB0"/>
                </a:solidFill>
                <a:latin typeface="Literata"/>
              </a:rPr>
              <a:t>Спуск в подземелье, где каждый бой — вопрос по
Python. Десять этажей, пять боссов, один дракон.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590288"/>
            <a:ext cx="1417320" cy="384048"/>
          </a:xfrm>
          <a:prstGeom prst="rect">
            <a:avLst/>
          </a:prstGeom>
          <a:noFill/>
          <a:ln w="9525">
            <a:solidFill>
              <a:srgbClr val="5A5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0" spc="180">
                <a:solidFill>
                  <a:srgbClr val="C8B79A"/>
                </a:solidFill>
                <a:latin typeface="IBM Plex Mono"/>
              </a:rPr>
              <a:t>10 ЭТАЖЕЙ</a:t>
            </a:r>
          </a:p>
        </p:txBody>
      </p:sp>
      <p:sp>
        <p:nvSpPr>
          <p:cNvPr id="8" name="Rectangle 7"/>
          <p:cNvSpPr/>
          <p:nvPr/>
        </p:nvSpPr>
        <p:spPr>
          <a:xfrm>
            <a:off x="2404872" y="4590288"/>
            <a:ext cx="1325880" cy="384048"/>
          </a:xfrm>
          <a:prstGeom prst="rect">
            <a:avLst/>
          </a:prstGeom>
          <a:noFill/>
          <a:ln w="9525">
            <a:solidFill>
              <a:srgbClr val="5A5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0" spc="180">
                <a:solidFill>
                  <a:srgbClr val="C8B79A"/>
                </a:solidFill>
                <a:latin typeface="IBM Plex Mono"/>
              </a:rPr>
              <a:t>5 БОССОВ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3895344" y="4590288"/>
            <a:ext cx="1691640" cy="384048"/>
          </a:xfrm>
          <a:prstGeom prst="rect">
            <a:avLst/>
          </a:prstGeom>
          <a:noFill/>
          <a:ln w="9525">
            <a:solidFill>
              <a:srgbClr val="5A5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0" spc="180">
                <a:solidFill>
                  <a:srgbClr val="C8B79A"/>
                </a:solidFill>
                <a:latin typeface="IBM Plex Mono"/>
              </a:rPr>
              <a:t>20–40 МИНУТ</a:t>
            </a:r>
          </a:p>
        </p:txBody>
      </p:sp>
      <p:sp>
        <p:nvSpPr>
          <p:cNvPr id="10" name="Oval 9"/>
          <p:cNvSpPr/>
          <p:nvPr/>
        </p:nvSpPr>
        <p:spPr>
          <a:xfrm rot="420000">
            <a:off x="10012680" y="1417320"/>
            <a:ext cx="1371600" cy="1371600"/>
          </a:xfrm>
          <a:prstGeom prst="ellipse">
            <a:avLst/>
          </a:prstGeom>
          <a:noFill/>
          <a:ln w="12700">
            <a:solidFill>
              <a:srgbClr val="A37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420000">
            <a:off x="10090404" y="1495044"/>
            <a:ext cx="1216152" cy="1216152"/>
          </a:xfrm>
          <a:prstGeom prst="ellipse">
            <a:avLst/>
          </a:prstGeom>
          <a:noFill/>
          <a:ln w="6350">
            <a:solidFill>
              <a:srgbClr val="A37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1563624"/>
            <a:ext cx="1371600" cy="10972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92000"/>
              </a:lnSpc>
            </a:pPr>
            <a:r>
              <a:rPr sz="600" b="0" spc="120">
                <a:solidFill>
                  <a:srgbClr val="A3705A"/>
                </a:solidFill>
                <a:latin typeface="IBM Plex Mono"/>
              </a:rPr>
              <a:t>ПЕЧАТЬ</a:t>
            </a:r>
          </a:p>
          <a:p>
            <a:pPr algn="ctr">
              <a:lnSpc>
                <a:spcPct val="92000"/>
              </a:lnSpc>
            </a:pPr>
            <a:r>
              <a:rPr sz="2000" b="1">
                <a:solidFill>
                  <a:srgbClr val="A3705A"/>
                </a:solidFill>
                <a:latin typeface="Literata"/>
              </a:rPr>
              <a:t>Py</a:t>
            </a:r>
          </a:p>
          <a:p>
            <a:pPr algn="ctr">
              <a:lnSpc>
                <a:spcPct val="92000"/>
              </a:lnSpc>
            </a:pPr>
            <a:r>
              <a:rPr sz="600" b="0" spc="120">
                <a:solidFill>
                  <a:srgbClr val="A3705A"/>
                </a:solidFill>
                <a:latin typeface="IBM Plex Mono"/>
              </a:rPr>
              <a:t>2026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51560" y="5852160"/>
            <a:ext cx="8915400" cy="0"/>
          </a:xfrm>
          <a:prstGeom prst="line">
            <a:avLst/>
          </a:prstGeom>
          <a:ln w="9525">
            <a:solidFill>
              <a:srgbClr val="4A4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19556" y="5820156"/>
            <a:ext cx="64008" cy="64008"/>
          </a:xfrm>
          <a:prstGeom prst="ellipse">
            <a:avLst/>
          </a:prstGeom>
          <a:solidFill>
            <a:srgbClr val="C8B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1973580" y="5783580"/>
            <a:ext cx="137160" cy="137160"/>
          </a:xfrm>
          <a:prstGeom prst="diamond">
            <a:avLst/>
          </a:prstGeom>
          <a:solidFill>
            <a:srgbClr val="D39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00755" y="5820156"/>
            <a:ext cx="64008" cy="64008"/>
          </a:xfrm>
          <a:prstGeom prst="ellipse">
            <a:avLst/>
          </a:prstGeom>
          <a:solidFill>
            <a:srgbClr val="C8B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3954780" y="5783580"/>
            <a:ext cx="137160" cy="137160"/>
          </a:xfrm>
          <a:prstGeom prst="diamond">
            <a:avLst/>
          </a:prstGeom>
          <a:solidFill>
            <a:srgbClr val="D39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81955" y="5820156"/>
            <a:ext cx="64008" cy="64008"/>
          </a:xfrm>
          <a:prstGeom prst="ellipse">
            <a:avLst/>
          </a:prstGeom>
          <a:solidFill>
            <a:srgbClr val="C8B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5935980" y="5783580"/>
            <a:ext cx="137160" cy="137160"/>
          </a:xfrm>
          <a:prstGeom prst="diamond">
            <a:avLst/>
          </a:prstGeom>
          <a:solidFill>
            <a:srgbClr val="D39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63156" y="5820156"/>
            <a:ext cx="64008" cy="64008"/>
          </a:xfrm>
          <a:prstGeom prst="ellipse">
            <a:avLst/>
          </a:prstGeom>
          <a:solidFill>
            <a:srgbClr val="C8B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7917180" y="5783580"/>
            <a:ext cx="137160" cy="137160"/>
          </a:xfrm>
          <a:prstGeom prst="diamond">
            <a:avLst/>
          </a:prstGeom>
          <a:solidFill>
            <a:srgbClr val="D39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44356" y="5820156"/>
            <a:ext cx="64008" cy="64008"/>
          </a:xfrm>
          <a:prstGeom prst="ellipse">
            <a:avLst/>
          </a:prstGeom>
          <a:solidFill>
            <a:srgbClr val="C8B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9898380" y="5783580"/>
            <a:ext cx="137160" cy="137160"/>
          </a:xfrm>
          <a:prstGeom prst="diamond">
            <a:avLst/>
          </a:prstGeom>
          <a:solidFill>
            <a:srgbClr val="D39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02080" y="5989320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650" b="0" spc="120">
                <a:solidFill>
                  <a:srgbClr val="8F887A"/>
                </a:solidFill>
                <a:latin typeface="IBM Plex Mono"/>
              </a:rPr>
              <a:t>ПЕЩЕРЫ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989320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650" b="0" spc="120">
                <a:solidFill>
                  <a:srgbClr val="8F887A"/>
                </a:solidFill>
                <a:latin typeface="IBM Plex Mono"/>
              </a:rPr>
              <a:t>КАТАКОМБЫ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4480" y="5989320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650" b="0" spc="120">
                <a:solidFill>
                  <a:srgbClr val="8F887A"/>
                </a:solidFill>
                <a:latin typeface="IBM Plex Mono"/>
              </a:rPr>
              <a:t>ЛЁД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5680" y="5989320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650" b="0" spc="120">
                <a:solidFill>
                  <a:srgbClr val="8F887A"/>
                </a:solidFill>
                <a:latin typeface="IBM Plex Mono"/>
              </a:rPr>
              <a:t>ДЕМОНЫ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5989320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650" b="0" spc="120">
                <a:solidFill>
                  <a:srgbClr val="8F887A"/>
                </a:solidFill>
                <a:latin typeface="IBM Plex Mono"/>
              </a:rPr>
              <a:t>ДРАКОН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50" b="0" spc="200">
                <a:solidFill>
                  <a:srgbClr val="6F695C"/>
                </a:solidFill>
                <a:latin typeface="IBM Plex Mono"/>
              </a:rPr>
              <a:t>PYTHON · БРАУЗЕР · БЕЗ СЕРВЕРА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4200" y="6400800"/>
            <a:ext cx="62179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900" b="0" spc="150">
                <a:solidFill>
                  <a:srgbClr val="6F695C"/>
                </a:solidFill>
                <a:latin typeface="IBM Plex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CB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ct val="112000"/>
              </a:lnSpc>
            </a:pPr>
            <a:r>
              <a:rPr sz="3300" b="1">
                <a:solidFill>
                  <a:srgbClr val="1C1A16"/>
                </a:solidFill>
                <a:latin typeface="Literata"/>
              </a:rPr>
              <a:t>Вопрос — это удар.</a:t>
            </a:r>
          </a:p>
          <a:p>
            <a:pPr>
              <a:lnSpc>
                <a:spcPct val="112000"/>
              </a:lnSpc>
            </a:pPr>
            <a:r>
              <a:rPr sz="3300" b="1">
                <a:solidFill>
                  <a:srgbClr val="1C1A16"/>
                </a:solidFill>
                <a:latin typeface="Literata"/>
              </a:rPr>
              <a:t>Ошибка — ответный.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spc="200">
                <a:solidFill>
                  <a:srgbClr val="713823"/>
                </a:solidFill>
                <a:latin typeface="IBM Plex Mon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255117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500" b="1">
                <a:solidFill>
                  <a:srgbClr val="1C1A16"/>
                </a:solidFill>
                <a:latin typeface="Literata"/>
              </a:rPr>
              <a:t>Вопрос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935224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ct val="122000"/>
              </a:lnSpc>
            </a:pPr>
            <a:r>
              <a:rPr sz="1050" b="0">
                <a:solidFill>
                  <a:srgbClr val="48443A"/>
                </a:solidFill>
                <a:latin typeface="Literata"/>
              </a:rPr>
              <a:t>Строки, списки, словари, функции.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721608"/>
            <a:ext cx="5486400" cy="0"/>
          </a:xfrm>
          <a:prstGeom prst="line">
            <a:avLst/>
          </a:prstGeom>
          <a:ln w="7620">
            <a:solidFill>
              <a:srgbClr val="C8B7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8679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spc="200">
                <a:solidFill>
                  <a:srgbClr val="713823"/>
                </a:solidFill>
                <a:latin typeface="IBM Plex Mon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81304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500" b="1">
                <a:solidFill>
                  <a:srgbClr val="1C1A16"/>
                </a:solidFill>
                <a:latin typeface="Literata"/>
              </a:rPr>
              <a:t>Задача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197096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ct val="122000"/>
              </a:lnSpc>
            </a:pPr>
            <a:r>
              <a:rPr sz="1050" b="0">
                <a:solidFill>
                  <a:srgbClr val="48443A"/>
                </a:solidFill>
                <a:latin typeface="Literata"/>
              </a:rPr>
              <a:t>Сразу после ответа — код на ту же тему.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4983480"/>
            <a:ext cx="5486400" cy="0"/>
          </a:xfrm>
          <a:prstGeom prst="line">
            <a:avLst/>
          </a:prstGeom>
          <a:ln w="7620">
            <a:solidFill>
              <a:srgbClr val="C8B7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512978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spc="200">
                <a:solidFill>
                  <a:srgbClr val="713823"/>
                </a:solidFill>
                <a:latin typeface="IBM Plex Mono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5074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500" b="1">
                <a:solidFill>
                  <a:srgbClr val="1C1A16"/>
                </a:solidFill>
                <a:latin typeface="Literata"/>
              </a:rPr>
              <a:t>Урон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5458968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ct val="122000"/>
              </a:lnSpc>
            </a:pPr>
            <a:r>
              <a:rPr sz="1050" b="0">
                <a:solidFill>
                  <a:srgbClr val="48443A"/>
                </a:solidFill>
                <a:latin typeface="Literata"/>
              </a:rPr>
              <a:t>Ошибка снимает здоровье герою, верный ответ — монстру.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45936" y="1106424"/>
            <a:ext cx="5102352" cy="3214723"/>
          </a:xfrm>
          <a:prstGeom prst="rect">
            <a:avLst/>
          </a:prstGeom>
          <a:solidFill>
            <a:srgbClr val="0F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at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188720"/>
            <a:ext cx="4937760" cy="3050131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428232" y="1188720"/>
            <a:ext cx="4937760" cy="3050131"/>
          </a:xfrm>
          <a:prstGeom prst="rect">
            <a:avLst/>
          </a:prstGeom>
          <a:noFill/>
          <a:ln w="15875">
            <a:solidFill>
              <a:srgbClr val="0F14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1390000">
            <a:off x="6592824" y="1042416"/>
            <a:ext cx="960120" cy="219456"/>
          </a:xfrm>
          <a:prstGeom prst="rect">
            <a:avLst/>
          </a:prstGeom>
          <a:solidFill>
            <a:srgbClr val="E6D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4494883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150" b="0">
                <a:solidFill>
                  <a:srgbClr val="48443A"/>
                </a:solidFill>
                <a:latin typeface="Literata"/>
              </a:rPr>
              <a:t>Проверка кода идёт в браузере.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6400800"/>
            <a:ext cx="62179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900" b="0" spc="150">
                <a:solidFill>
                  <a:srgbClr val="48443A"/>
                </a:solidFill>
                <a:latin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CB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6012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3000" b="1">
                <a:solidFill>
                  <a:srgbClr val="1C1A16"/>
                </a:solidFill>
                <a:latin typeface="Literata"/>
              </a:rPr>
              <a:t>Десять этажей. Пять боссов. Один дракон.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9105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50" b="0">
                <a:solidFill>
                  <a:srgbClr val="48443A"/>
                </a:solidFill>
                <a:latin typeface="Literata"/>
              </a:rPr>
              <a:t>Кампания «Печати глубины»: пять глав, деревня, журнал и финал.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780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spc="220">
                <a:solidFill>
                  <a:srgbClr val="48443A"/>
                </a:solidFill>
                <a:latin typeface="IBM Plex Mono"/>
              </a:rPr>
              <a:t>ЭТАЖЕЙ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2331720"/>
            <a:ext cx="2770632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2600" b="0" spc="60">
                <a:solidFill>
                  <a:srgbClr val="1C1A16"/>
                </a:solidFill>
                <a:latin typeface="IBM Plex Mono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2935224"/>
            <a:ext cx="10543032" cy="0"/>
          </a:xfrm>
          <a:prstGeom prst="line">
            <a:avLst/>
          </a:prstGeom>
          <a:ln w="7620">
            <a:solidFill>
              <a:srgbClr val="C8B7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118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spc="220">
                <a:solidFill>
                  <a:srgbClr val="48443A"/>
                </a:solidFill>
                <a:latin typeface="IBM Plex Mono"/>
              </a:rPr>
              <a:t>БИОМОВ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971800"/>
            <a:ext cx="2770632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2600" b="0" spc="60">
                <a:solidFill>
                  <a:srgbClr val="1C1A16"/>
                </a:solidFill>
                <a:latin typeface="IBM Plex Mono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3575304"/>
            <a:ext cx="10543032" cy="0"/>
          </a:xfrm>
          <a:prstGeom prst="line">
            <a:avLst/>
          </a:prstGeom>
          <a:ln w="7620">
            <a:solidFill>
              <a:srgbClr val="C8B7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375818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spc="220">
                <a:solidFill>
                  <a:srgbClr val="48443A"/>
                </a:solidFill>
                <a:latin typeface="IBM Plex Mono"/>
              </a:rPr>
              <a:t>БОССОВ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611880"/>
            <a:ext cx="2770632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2600" b="0" spc="60">
                <a:solidFill>
                  <a:srgbClr val="1C1A16"/>
                </a:solidFill>
                <a:latin typeface="IBM Plex Mono"/>
              </a:rPr>
              <a:t>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4215384"/>
            <a:ext cx="10543032" cy="0"/>
          </a:xfrm>
          <a:prstGeom prst="line">
            <a:avLst/>
          </a:prstGeom>
          <a:ln w="7620">
            <a:solidFill>
              <a:srgbClr val="C8B7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43982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spc="220">
                <a:solidFill>
                  <a:srgbClr val="48443A"/>
                </a:solidFill>
                <a:latin typeface="IBM Plex Mono"/>
              </a:rPr>
              <a:t>МИНУТ НА ПОХОД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251960"/>
            <a:ext cx="2770632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2600" b="0" spc="60">
                <a:solidFill>
                  <a:srgbClr val="1C1A16"/>
                </a:solidFill>
                <a:latin typeface="IBM Plex Mono"/>
              </a:rPr>
              <a:t>20–40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4855464"/>
            <a:ext cx="10543032" cy="0"/>
          </a:xfrm>
          <a:prstGeom prst="line">
            <a:avLst/>
          </a:prstGeom>
          <a:ln w="7620">
            <a:solidFill>
              <a:srgbClr val="C8B7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503834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spc="220">
                <a:solidFill>
                  <a:srgbClr val="48443A"/>
                </a:solidFill>
                <a:latin typeface="IBM Plex Mono"/>
              </a:rPr>
              <a:t>СЕРВЕР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892040"/>
            <a:ext cx="2770632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700" b="0">
                <a:solidFill>
                  <a:srgbClr val="1C1A16"/>
                </a:solidFill>
                <a:latin typeface="IBM Plex Mono"/>
              </a:rPr>
              <a:t>не нужен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5495544"/>
            <a:ext cx="10543032" cy="0"/>
          </a:xfrm>
          <a:prstGeom prst="line">
            <a:avLst/>
          </a:prstGeom>
          <a:ln w="7620">
            <a:solidFill>
              <a:srgbClr val="C8B7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5742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150" b="0">
                <a:solidFill>
                  <a:srgbClr val="48443A"/>
                </a:solidFill>
                <a:latin typeface="Literata"/>
              </a:rPr>
              <a:t>Python через Pyodide, пиксель-арт 32×32 (Aseprite, открытые тайлы DCSS), сохранения — в localStorage.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6400800"/>
            <a:ext cx="62179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900" b="0" spc="150">
                <a:solidFill>
                  <a:srgbClr val="48443A"/>
                </a:solidFill>
                <a:latin typeface="IBM Plex Mono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